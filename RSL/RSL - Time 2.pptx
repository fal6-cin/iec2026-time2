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Roboto Ligh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-regular.fntdata"/><Relationship Id="rId21" Type="http://schemas.openxmlformats.org/officeDocument/2006/relationships/slide" Target="slides/slide17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Light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RobotoLight-italic.fntdata"/><Relationship Id="rId27" Type="http://schemas.openxmlformats.org/officeDocument/2006/relationships/font" Target="fonts/RobotoLigh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Ligh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DANILO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8b043fc8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8b043fc8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DANILO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8b043fc8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8b043fc8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MALU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8b043fc8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8b043fc8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ALEXANDRE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8b043fc8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8b043fc8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CAYO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 - POPULA</a:t>
            </a:r>
            <a:r>
              <a:rPr lang="pt-BR"/>
              <a:t>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 - INTERVEN</a:t>
            </a:r>
            <a:r>
              <a:rPr lang="pt-BR"/>
              <a:t>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 - COMPARAÇÃO - NÃO USOU.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- OUTCOME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 - CONTEXTO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8b043fc81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8b043fc81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CAYO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8b043fc8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8b043fc8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CAYO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8b043fc81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8b043fc81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FELIPE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8b043fc81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8b043fc81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ALEXANDRE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8b043fc81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8b043fc81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8b043fc81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8b043fc81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DANILO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8b043fc81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8b043fc81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DANILO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8b043fc81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8b043fc81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FELIPE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8b043fc81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8b043fc81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DANILO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8b043fc8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8b043fc8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MALU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8b043fc81_2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8b043fc81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FELIPE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8b043fc81_2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8b043fc81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200">
                <a:latin typeface="Roboto"/>
                <a:ea typeface="Roboto"/>
                <a:cs typeface="Roboto"/>
                <a:sym typeface="Roboto"/>
              </a:rPr>
              <a:t>Dificuldades técnicas de estudantes de pós-graduação em Ciência da Computação não oriundos da área de T.I.</a:t>
            </a:r>
            <a:endParaRPr sz="3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244450"/>
            <a:ext cx="8520600" cy="13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latin typeface="Roboto Light"/>
                <a:ea typeface="Roboto Light"/>
                <a:cs typeface="Roboto Light"/>
                <a:sym typeface="Roboto Light"/>
              </a:rPr>
              <a:t>Disciplina: Inovações educacionais em computação (IN1169) - 2026.1</a:t>
            </a:r>
            <a:endParaRPr sz="14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latin typeface="Roboto"/>
                <a:ea typeface="Roboto"/>
                <a:cs typeface="Roboto"/>
                <a:sym typeface="Roboto"/>
              </a:rPr>
              <a:t>Time 2:</a:t>
            </a:r>
            <a:r>
              <a:rPr lang="pt-BR" sz="140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pt-BR" sz="1400">
                <a:latin typeface="Roboto Light"/>
                <a:ea typeface="Roboto Light"/>
                <a:cs typeface="Roboto Light"/>
                <a:sym typeface="Roboto Light"/>
              </a:rPr>
              <a:t>Alexandre de Souza, Cayo Roberto, Danilo Farias, Felipe Lima e Malu Xavier.</a:t>
            </a:r>
            <a:br>
              <a:rPr lang="pt-BR" sz="1400">
                <a:latin typeface="Roboto Light"/>
                <a:ea typeface="Roboto Light"/>
                <a:cs typeface="Roboto Light"/>
                <a:sym typeface="Roboto Light"/>
              </a:rPr>
            </a:br>
            <a:endParaRPr sz="14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832" y="116476"/>
            <a:ext cx="1265044" cy="4373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984250" y="4444650"/>
            <a:ext cx="1304100" cy="64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Roboto Light"/>
                <a:ea typeface="Roboto Light"/>
                <a:cs typeface="Roboto Light"/>
                <a:sym typeface="Roboto Light"/>
              </a:rPr>
              <a:t>Recife, 2026</a:t>
            </a:r>
            <a:endParaRPr sz="10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Contexto da pesquisa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07225"/>
            <a:ext cx="85206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Objetivo: 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>
                <a:latin typeface="Roboto Light"/>
                <a:ea typeface="Roboto Light"/>
                <a:cs typeface="Roboto Light"/>
                <a:sym typeface="Roboto Light"/>
              </a:rPr>
              <a:t>Motivação: </a:t>
            </a:r>
            <a:endParaRPr sz="17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latin typeface="Roboto"/>
                <a:ea typeface="Roboto"/>
                <a:cs typeface="Roboto"/>
                <a:sym typeface="Roboto"/>
              </a:rPr>
              <a:t>A relevância reside no potencial de impactar diretamente a formação profissional e a permanência do aluno no curso. 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>
                <a:latin typeface="Roboto"/>
                <a:ea typeface="Roboto"/>
                <a:cs typeface="Roboto"/>
                <a:sym typeface="Roboto"/>
              </a:rPr>
              <a:t>Resolver essas lacunas </a:t>
            </a:r>
            <a:r>
              <a:rPr lang="pt-BR" sz="1600">
                <a:latin typeface="Roboto"/>
                <a:ea typeface="Roboto"/>
                <a:cs typeface="Roboto"/>
                <a:sym typeface="Roboto"/>
              </a:rPr>
              <a:t>iniciais na jornada do estudante </a:t>
            </a:r>
            <a:r>
              <a:rPr lang="pt-BR" sz="1600">
                <a:latin typeface="Roboto"/>
                <a:ea typeface="Roboto"/>
                <a:cs typeface="Roboto"/>
                <a:sym typeface="Roboto"/>
              </a:rPr>
              <a:t>é essencial para que ele consiga evoluir de forma incremental, integrada e condizente com o cenário tecnológico atual.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832" y="116476"/>
            <a:ext cx="1265044" cy="4373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431300" y="1519225"/>
            <a:ext cx="8433000" cy="11781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180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Identificar e analisar as </a:t>
            </a:r>
            <a:r>
              <a:rPr b="1"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dificuldades técnicas</a:t>
            </a:r>
            <a:r>
              <a:rPr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dos alunos ingressantes do </a:t>
            </a:r>
            <a:r>
              <a:rPr i="1"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Stricto Sensu</a:t>
            </a:r>
            <a:r>
              <a:rPr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de Ciências da Computação </a:t>
            </a:r>
            <a:r>
              <a:rPr b="1"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não oriundos da área de Tecnologia da Informação</a:t>
            </a:r>
            <a:r>
              <a:rPr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Etapas do método de RSL/MS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832" y="116476"/>
            <a:ext cx="1265044" cy="43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 b="35765" l="2933" r="2441" t="31635"/>
          <a:stretch/>
        </p:blipFill>
        <p:spPr>
          <a:xfrm>
            <a:off x="177663" y="1848984"/>
            <a:ext cx="8788675" cy="170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Planejamento da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 Pesquisa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67384"/>
            <a:ext cx="8832300" cy="3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Questão Central: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800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Quais são as dificuldades técnicas dos alunos ingressantes do </a:t>
            </a:r>
            <a:r>
              <a:rPr i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Stricto Sensu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 Ciências da Computação não oriundos da área de Tecnologia da Informação e como essas dificuldades impactam seu desempenho acadêmico?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Questões secundárias: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rgbClr val="EEEDFE"/>
                </a:highlight>
                <a:latin typeface="Roboto"/>
                <a:ea typeface="Roboto"/>
                <a:cs typeface="Roboto"/>
                <a:sym typeface="Roboto"/>
              </a:rPr>
              <a:t>Q1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 Qual é o </a:t>
            </a:r>
            <a:r>
              <a:rPr b="1" lang="pt-BR">
                <a:solidFill>
                  <a:schemeClr val="dk1"/>
                </a:solidFill>
                <a:highlight>
                  <a:srgbClr val="EEEDFE"/>
                </a:highlight>
                <a:latin typeface="Roboto"/>
                <a:ea typeface="Roboto"/>
                <a:cs typeface="Roboto"/>
                <a:sym typeface="Roboto"/>
              </a:rPr>
              <a:t>contexto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dos estudos analisados em relação aos alunos não oriundos de TI, considerando: (i) nível educacional (graduação/stricto sensu), (ii) área do curso, (iii) tamanho da amostra/turma e (iv) duração das intervenções ou disciplinas?”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1800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rgbClr val="EEEDFE"/>
                </a:highlight>
                <a:latin typeface="Roboto"/>
                <a:ea typeface="Roboto"/>
                <a:cs typeface="Roboto"/>
                <a:sym typeface="Roboto"/>
              </a:rPr>
              <a:t>Q2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 Quais são as principais </a:t>
            </a:r>
            <a:r>
              <a:rPr b="1" lang="pt-BR">
                <a:solidFill>
                  <a:schemeClr val="dk1"/>
                </a:solidFill>
                <a:highlight>
                  <a:srgbClr val="EEEDFE"/>
                </a:highlight>
                <a:latin typeface="Roboto"/>
                <a:ea typeface="Roboto"/>
                <a:cs typeface="Roboto"/>
                <a:sym typeface="Roboto"/>
              </a:rPr>
              <a:t>dificuldades técnicas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(ex.: programação, matemática, algoritmos, ferramentas)?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1800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rgbClr val="EEEDFE"/>
                </a:highlight>
                <a:latin typeface="Roboto"/>
                <a:ea typeface="Roboto"/>
                <a:cs typeface="Roboto"/>
                <a:sym typeface="Roboto"/>
              </a:rPr>
              <a:t>Q3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 Quais </a:t>
            </a:r>
            <a:r>
              <a:rPr b="1" lang="pt-BR">
                <a:solidFill>
                  <a:schemeClr val="dk1"/>
                </a:solidFill>
                <a:highlight>
                  <a:srgbClr val="EEEDFE"/>
                </a:highlight>
                <a:latin typeface="Roboto"/>
                <a:ea typeface="Roboto"/>
                <a:cs typeface="Roboto"/>
                <a:sym typeface="Roboto"/>
              </a:rPr>
              <a:t>métodos/abordagens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são utilizados para o desenvolvimento de competências técnicas nesses alunos?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1800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rgbClr val="EEEDFE"/>
                </a:highlight>
                <a:latin typeface="Roboto"/>
                <a:ea typeface="Roboto"/>
                <a:cs typeface="Roboto"/>
                <a:sym typeface="Roboto"/>
              </a:rPr>
              <a:t>Q4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 Como essas dificuldades </a:t>
            </a:r>
            <a:r>
              <a:rPr b="1" lang="pt-BR">
                <a:solidFill>
                  <a:schemeClr val="dk1"/>
                </a:solidFill>
                <a:highlight>
                  <a:srgbClr val="EEEDFE"/>
                </a:highlight>
                <a:latin typeface="Roboto"/>
                <a:ea typeface="Roboto"/>
                <a:cs typeface="Roboto"/>
                <a:sym typeface="Roboto"/>
              </a:rPr>
              <a:t>afetam o desempenho acadêmico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do público-alvo?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1800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rgbClr val="EEEDFE"/>
                </a:highlight>
                <a:latin typeface="Roboto"/>
                <a:ea typeface="Roboto"/>
                <a:cs typeface="Roboto"/>
                <a:sym typeface="Roboto"/>
              </a:rPr>
              <a:t>Q5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 Quais são os principais </a:t>
            </a:r>
            <a:r>
              <a:rPr b="1" lang="pt-BR">
                <a:solidFill>
                  <a:schemeClr val="dk1"/>
                </a:solidFill>
                <a:highlight>
                  <a:srgbClr val="EEEDFE"/>
                </a:highlight>
                <a:latin typeface="Roboto"/>
                <a:ea typeface="Roboto"/>
                <a:cs typeface="Roboto"/>
                <a:sym typeface="Roboto"/>
              </a:rPr>
              <a:t>desafios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encontrados para o desenvolvimento de competências técnicas no público-alvo?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832" y="116476"/>
            <a:ext cx="1265044" cy="4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Protocolo de pesquisa - </a:t>
            </a:r>
            <a:r>
              <a:rPr i="1" lang="pt-BR">
                <a:latin typeface="Roboto"/>
                <a:ea typeface="Roboto"/>
                <a:cs typeface="Roboto"/>
                <a:sym typeface="Roboto"/>
              </a:rPr>
              <a:t>strings 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de busca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205500"/>
            <a:ext cx="8520600" cy="37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Modelo PICO + C (contexto):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(P): Students with no computing background: students from other disciplines.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(I): Technical Skills: computing skills; programming skills.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(O): Education: teaching; learning.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(C): Experience report: case study.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(""non-technical background"" </a:t>
            </a:r>
            <a:r>
              <a:rPr lang="pt-BR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 ""non computing background"" </a:t>
            </a:r>
            <a:r>
              <a:rPr lang="pt-BR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 ""students from other disciplines"")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990000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 (""technical skills"" </a:t>
            </a:r>
            <a:r>
              <a:rPr lang="pt-BR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 ""programming skills"" </a:t>
            </a:r>
            <a:r>
              <a:rPr lang="pt-BR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 ""computing skills"")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>
                <a:solidFill>
                  <a:srgbClr val="990000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 (teaching </a:t>
            </a:r>
            <a:r>
              <a:rPr lang="pt-BR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 learning </a:t>
            </a:r>
            <a:r>
              <a:rPr lang="pt-BR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 education)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rgbClr val="990000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 (""experience report"" </a:t>
            </a:r>
            <a:r>
              <a:rPr lang="pt-BR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 ""case study"")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832" y="116476"/>
            <a:ext cx="1265044" cy="4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Critérios de </a:t>
            </a:r>
            <a:r>
              <a:rPr lang="pt-BR">
                <a:solidFill>
                  <a:srgbClr val="990000"/>
                </a:solidFill>
                <a:latin typeface="Roboto"/>
                <a:ea typeface="Roboto"/>
                <a:cs typeface="Roboto"/>
                <a:sym typeface="Roboto"/>
              </a:rPr>
              <a:t>Exclusão</a:t>
            </a:r>
            <a:endParaRPr>
              <a:solidFill>
                <a:srgbClr val="99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67384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Estudos anteriores de 2020 a 2026;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Estudos secundários (RSL/MS);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Publicações com menos de 4 páginas;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Publicações com mais de 30 páginas;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Publicações indisponíveis para download ou visualização;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Publicações que não sejam em língua inglesa;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Publicações não relacionadas ao tema.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832" y="116476"/>
            <a:ext cx="1265044" cy="4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Critérios de </a:t>
            </a:r>
            <a:r>
              <a:rPr lang="pt-BR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Inclusão</a:t>
            </a:r>
            <a:endParaRPr>
              <a:solidFill>
                <a:srgbClr val="4A86E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Estudos publicados entre 2020 e 2026;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Estudos que tratam de estudantes sem background em computação;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Estudos de caso sobre educação para o desenvolvimento de habilidades técnicas computacionais;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Publicações disponíveis para download.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832" y="116476"/>
            <a:ext cx="1265044" cy="4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 title="Pontos marcado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36" y="0"/>
            <a:ext cx="831832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8832" y="116476"/>
            <a:ext cx="1265044" cy="4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/>
          <p:nvPr/>
        </p:nvSpPr>
        <p:spPr>
          <a:xfrm>
            <a:off x="364875" y="2253075"/>
            <a:ext cx="1791600" cy="8775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3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Range:</a:t>
            </a:r>
            <a:endParaRPr sz="13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Qualificação dos Estudos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2587850" y="1474175"/>
            <a:ext cx="6244500" cy="30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CQ1 - Metodologia clara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CQ2 - Contexto claro e bem definido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CQ3 - Os objetivos da pesquisa estão bem definidos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CQ4 - Apresenta discussão sobre os resultados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Light"/>
                <a:ea typeface="Roboto Light"/>
                <a:cs typeface="Roboto Light"/>
                <a:sym typeface="Roboto Light"/>
              </a:rPr>
              <a:t>CQ5 - Mencionou desafios, limitações ou ameaças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400">
                <a:solidFill>
                  <a:srgbClr val="990000"/>
                </a:solidFill>
                <a:latin typeface="Roboto Light"/>
                <a:ea typeface="Roboto Light"/>
                <a:cs typeface="Roboto Light"/>
                <a:sym typeface="Roboto Light"/>
              </a:rPr>
              <a:t>Obs.: Notas de 0 a 5, publicações com menos de 3 foram excluídas.</a:t>
            </a:r>
            <a:endParaRPr sz="1400">
              <a:solidFill>
                <a:srgbClr val="99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832" y="116476"/>
            <a:ext cx="1265044" cy="437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p21"/>
          <p:cNvCxnSpPr/>
          <p:nvPr/>
        </p:nvCxnSpPr>
        <p:spPr>
          <a:xfrm>
            <a:off x="527874" y="2729475"/>
            <a:ext cx="73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16" name="Google Shape;116;p21"/>
          <p:cNvCxnSpPr/>
          <p:nvPr/>
        </p:nvCxnSpPr>
        <p:spPr>
          <a:xfrm>
            <a:off x="1195274" y="2729475"/>
            <a:ext cx="73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422775" y="2729475"/>
            <a:ext cx="2595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latin typeface="Roboto Light"/>
                <a:ea typeface="Roboto Light"/>
                <a:cs typeface="Roboto Light"/>
                <a:sym typeface="Roboto Light"/>
              </a:rPr>
              <a:t>0</a:t>
            </a:r>
            <a:endParaRPr sz="1200">
              <a:solidFill>
                <a:srgbClr val="99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1012900" y="2729475"/>
            <a:ext cx="3906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latin typeface="Roboto Light"/>
                <a:ea typeface="Roboto Light"/>
                <a:cs typeface="Roboto Light"/>
                <a:sym typeface="Roboto Light"/>
              </a:rPr>
              <a:t>0,5</a:t>
            </a:r>
            <a:endParaRPr sz="1200">
              <a:solidFill>
                <a:srgbClr val="99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1747000" y="2729475"/>
            <a:ext cx="2595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latin typeface="Roboto Light"/>
                <a:ea typeface="Roboto Light"/>
                <a:cs typeface="Roboto Light"/>
                <a:sym typeface="Roboto Light"/>
              </a:rPr>
              <a:t>1</a:t>
            </a:r>
            <a:endParaRPr sz="1200">
              <a:solidFill>
                <a:srgbClr val="99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Análise e Síntese das Questões Secundárias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832" y="116476"/>
            <a:ext cx="1265044" cy="4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911925"/>
            <a:ext cx="85206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Roboto"/>
                <a:ea typeface="Roboto"/>
                <a:cs typeface="Roboto"/>
                <a:sym typeface="Roboto"/>
              </a:rPr>
              <a:t>Nível educacional: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 Graduação e Pós-graduação.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latin typeface="Roboto"/>
                <a:ea typeface="Roboto"/>
                <a:cs typeface="Roboto"/>
                <a:sym typeface="Roboto"/>
              </a:rPr>
              <a:t>Á</a:t>
            </a:r>
            <a:r>
              <a:rPr b="1" lang="pt-BR">
                <a:latin typeface="Roboto"/>
                <a:ea typeface="Roboto"/>
                <a:cs typeface="Roboto"/>
                <a:sym typeface="Roboto"/>
              </a:rPr>
              <a:t>rea do curso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: </a:t>
            </a:r>
            <a:br>
              <a:rPr lang="pt-BR">
                <a:latin typeface="Roboto"/>
                <a:ea typeface="Roboto"/>
                <a:cs typeface="Roboto"/>
                <a:sym typeface="Roboto"/>
              </a:rPr>
            </a:br>
            <a:r>
              <a:rPr lang="pt-BR">
                <a:latin typeface="Roboto"/>
                <a:ea typeface="Roboto"/>
                <a:cs typeface="Roboto"/>
                <a:sym typeface="Roboto"/>
              </a:rPr>
              <a:t>	Humanidades, Ciências Sociais e Artes</a:t>
            </a:r>
            <a:br>
              <a:rPr lang="pt-BR">
                <a:latin typeface="Roboto"/>
                <a:ea typeface="Roboto"/>
                <a:cs typeface="Roboto"/>
                <a:sym typeface="Roboto"/>
              </a:rPr>
            </a:br>
            <a:r>
              <a:rPr lang="pt-BR">
                <a:latin typeface="Roboto"/>
                <a:ea typeface="Roboto"/>
                <a:cs typeface="Roboto"/>
                <a:sym typeface="Roboto"/>
              </a:rPr>
              <a:t>	Negócios e Gestão</a:t>
            </a:r>
            <a:br>
              <a:rPr lang="pt-BR">
                <a:latin typeface="Roboto"/>
                <a:ea typeface="Roboto"/>
                <a:cs typeface="Roboto"/>
                <a:sym typeface="Roboto"/>
              </a:rPr>
            </a:br>
            <a:r>
              <a:rPr lang="pt-BR">
                <a:latin typeface="Roboto"/>
                <a:ea typeface="Roboto"/>
                <a:cs typeface="Roboto"/>
                <a:sym typeface="Roboto"/>
              </a:rPr>
              <a:t>	Engenharia não computacional e ciências exatas</a:t>
            </a:r>
            <a:br>
              <a:rPr lang="pt-BR">
                <a:latin typeface="Roboto"/>
                <a:ea typeface="Roboto"/>
                <a:cs typeface="Roboto"/>
                <a:sym typeface="Roboto"/>
              </a:rPr>
            </a:br>
            <a:r>
              <a:rPr lang="pt-BR">
                <a:latin typeface="Roboto"/>
                <a:ea typeface="Roboto"/>
                <a:cs typeface="Roboto"/>
                <a:sym typeface="Roboto"/>
              </a:rPr>
              <a:t>	Biociências e Saúde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832" y="116476"/>
            <a:ext cx="1265044" cy="43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latin typeface="Roboto"/>
                <a:ea typeface="Roboto"/>
                <a:cs typeface="Roboto"/>
                <a:sym typeface="Roboto"/>
              </a:rPr>
              <a:t>Q1 - Qual é o </a:t>
            </a:r>
            <a:r>
              <a:rPr b="1" lang="pt-BR" sz="2500">
                <a:latin typeface="Roboto"/>
                <a:ea typeface="Roboto"/>
                <a:cs typeface="Roboto"/>
                <a:sym typeface="Roboto"/>
              </a:rPr>
              <a:t>contexto</a:t>
            </a:r>
            <a:r>
              <a:rPr lang="pt-BR" sz="2500">
                <a:latin typeface="Roboto"/>
                <a:ea typeface="Roboto"/>
                <a:cs typeface="Roboto"/>
                <a:sym typeface="Roboto"/>
              </a:rPr>
              <a:t> dos estudos analisados em relação aos alunos não oriundos de TI?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latin typeface="Roboto"/>
                <a:ea typeface="Roboto"/>
                <a:cs typeface="Roboto"/>
                <a:sym typeface="Roboto"/>
              </a:rPr>
              <a:t>Q1 - Qual é o </a:t>
            </a:r>
            <a:r>
              <a:rPr b="1" lang="pt-BR" sz="2500">
                <a:latin typeface="Roboto"/>
                <a:ea typeface="Roboto"/>
                <a:cs typeface="Roboto"/>
                <a:sym typeface="Roboto"/>
              </a:rPr>
              <a:t>contexto</a:t>
            </a:r>
            <a:r>
              <a:rPr lang="pt-BR" sz="2500">
                <a:latin typeface="Roboto"/>
                <a:ea typeface="Roboto"/>
                <a:cs typeface="Roboto"/>
                <a:sym typeface="Roboto"/>
              </a:rPr>
              <a:t> dos estudos analisados em relação aos alunos não oriundos de TI?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1491725"/>
            <a:ext cx="8520600" cy="3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Roboto"/>
                <a:ea typeface="Roboto"/>
                <a:cs typeface="Roboto"/>
                <a:sym typeface="Roboto"/>
              </a:rPr>
              <a:t>Tamanho da amostra/turma:</a:t>
            </a:r>
            <a:br>
              <a:rPr b="1" lang="pt-BR">
                <a:latin typeface="Roboto"/>
                <a:ea typeface="Roboto"/>
                <a:cs typeface="Roboto"/>
                <a:sym typeface="Roboto"/>
              </a:rPr>
            </a:br>
            <a:r>
              <a:rPr b="1" lang="pt-BR"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lang="pt-BR" sz="1600"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pt-BR" sz="1600">
                <a:latin typeface="Roboto"/>
                <a:ea typeface="Roboto"/>
                <a:cs typeface="Roboto"/>
                <a:sym typeface="Roboto"/>
              </a:rPr>
              <a:t>equeno a médio porte (foco qualitativo/prático) - até 50 estudantes</a:t>
            </a:r>
            <a:br>
              <a:rPr lang="pt-BR" sz="1600">
                <a:latin typeface="Roboto"/>
                <a:ea typeface="Roboto"/>
                <a:cs typeface="Roboto"/>
                <a:sym typeface="Roboto"/>
              </a:rPr>
            </a:br>
            <a:r>
              <a:rPr lang="pt-BR" sz="1600">
                <a:latin typeface="Roboto"/>
                <a:ea typeface="Roboto"/>
                <a:cs typeface="Roboto"/>
                <a:sym typeface="Roboto"/>
              </a:rPr>
              <a:t>	P</a:t>
            </a:r>
            <a:r>
              <a:rPr lang="pt-BR" sz="1600">
                <a:latin typeface="Roboto"/>
                <a:ea typeface="Roboto"/>
                <a:cs typeface="Roboto"/>
                <a:sym typeface="Roboto"/>
              </a:rPr>
              <a:t>orte médio a grande (foco quantitativo/experimental)</a:t>
            </a:r>
            <a:r>
              <a:rPr lang="pt-BR" sz="1600">
                <a:latin typeface="Roboto"/>
                <a:ea typeface="Roboto"/>
                <a:cs typeface="Roboto"/>
                <a:sym typeface="Roboto"/>
              </a:rPr>
              <a:t> - mais de 50 estudantes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>
                <a:latin typeface="Roboto"/>
                <a:ea typeface="Roboto"/>
                <a:cs typeface="Roboto"/>
                <a:sym typeface="Roboto"/>
              </a:rPr>
              <a:t>Duração das Intervenções:</a:t>
            </a:r>
            <a:br>
              <a:rPr b="1" lang="pt-BR">
                <a:latin typeface="Roboto"/>
                <a:ea typeface="Roboto"/>
                <a:cs typeface="Roboto"/>
                <a:sym typeface="Roboto"/>
              </a:rPr>
            </a:br>
            <a:r>
              <a:rPr lang="pt-BR" sz="1600">
                <a:latin typeface="Roboto"/>
                <a:ea typeface="Roboto"/>
                <a:cs typeface="Roboto"/>
                <a:sym typeface="Roboto"/>
              </a:rPr>
              <a:t>	Cursos formais com duração de um semestre</a:t>
            </a:r>
            <a:br>
              <a:rPr lang="pt-BR" sz="1600">
                <a:latin typeface="Roboto"/>
                <a:ea typeface="Roboto"/>
                <a:cs typeface="Roboto"/>
                <a:sym typeface="Roboto"/>
              </a:rPr>
            </a:br>
            <a:r>
              <a:rPr lang="pt-BR" sz="1600"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lang="pt-BR" sz="1600">
                <a:latin typeface="Roboto"/>
                <a:ea typeface="Roboto"/>
                <a:cs typeface="Roboto"/>
                <a:sym typeface="Roboto"/>
              </a:rPr>
              <a:t>Programas contínuos</a:t>
            </a:r>
            <a:br>
              <a:rPr lang="pt-BR" sz="1600">
                <a:latin typeface="Roboto"/>
                <a:ea typeface="Roboto"/>
                <a:cs typeface="Roboto"/>
                <a:sym typeface="Roboto"/>
              </a:rPr>
            </a:br>
            <a:r>
              <a:rPr lang="pt-BR" sz="1600">
                <a:latin typeface="Roboto"/>
                <a:ea typeface="Roboto"/>
                <a:cs typeface="Roboto"/>
                <a:sym typeface="Roboto"/>
              </a:rPr>
              <a:t>	Módulos curtos e experimentos pontuais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832" y="116476"/>
            <a:ext cx="1265044" cy="4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Q2 - Quais são as principais </a:t>
            </a:r>
            <a:r>
              <a:rPr b="1" lang="pt-BR">
                <a:latin typeface="Roboto"/>
                <a:ea typeface="Roboto"/>
                <a:cs typeface="Roboto"/>
                <a:sym typeface="Roboto"/>
              </a:rPr>
              <a:t>dificuldades técnicas?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		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" name="Google Shape;145;p25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5772" y="1152475"/>
            <a:ext cx="6472478" cy="399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8832" y="116476"/>
            <a:ext cx="1265044" cy="43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5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5775" y="1146925"/>
            <a:ext cx="6472476" cy="4002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445025"/>
            <a:ext cx="85206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latin typeface="Roboto"/>
                <a:ea typeface="Roboto"/>
                <a:cs typeface="Roboto"/>
                <a:sym typeface="Roboto"/>
              </a:rPr>
              <a:t>Q3 - Quais </a:t>
            </a:r>
            <a:r>
              <a:rPr b="1" lang="pt-BR" sz="2500">
                <a:latin typeface="Roboto"/>
                <a:ea typeface="Roboto"/>
                <a:cs typeface="Roboto"/>
                <a:sym typeface="Roboto"/>
              </a:rPr>
              <a:t>métodos/abordagens</a:t>
            </a:r>
            <a:r>
              <a:rPr lang="pt-BR" sz="2500">
                <a:latin typeface="Roboto"/>
                <a:ea typeface="Roboto"/>
                <a:cs typeface="Roboto"/>
                <a:sym typeface="Roboto"/>
              </a:rPr>
              <a:t> são utilizados para o desenvolvimento de competências técnicas nesses alunos?	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311700" y="1922525"/>
            <a:ext cx="8520600" cy="26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800"/>
              <a:buChar char="●"/>
            </a:pPr>
            <a:r>
              <a:rPr lang="pt-BR"/>
              <a:t>Aprendizagem ativa, colaborativa e independente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800"/>
              <a:buChar char="●"/>
            </a:pPr>
            <a:r>
              <a:rPr lang="pt-BR"/>
              <a:t>Aprendizagem baseada em projetos, aprendizagem baseada em problemas e instrução aplicada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800"/>
              <a:buChar char="●"/>
            </a:pPr>
            <a:r>
              <a:rPr lang="pt-BR"/>
              <a:t>Apoio cognitivo e programação em blocos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800"/>
              <a:buChar char="●"/>
            </a:pPr>
            <a:r>
              <a:rPr lang="pt-BR"/>
              <a:t>Investigação guiada e metacognição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800"/>
              <a:buChar char="●"/>
            </a:pPr>
            <a:r>
              <a:rPr i="1" lang="pt-BR"/>
              <a:t>Design </a:t>
            </a:r>
            <a:r>
              <a:rPr lang="pt-BR"/>
              <a:t>curricular interdisciplinar e redução de barreiras</a:t>
            </a:r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832" y="116476"/>
            <a:ext cx="1265044" cy="4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latin typeface="Roboto"/>
                <a:ea typeface="Roboto"/>
                <a:cs typeface="Roboto"/>
                <a:sym typeface="Roboto"/>
              </a:rPr>
              <a:t>Q4 - Como essas dificuldades </a:t>
            </a:r>
            <a:r>
              <a:rPr b="1" lang="pt-BR" sz="2500">
                <a:latin typeface="Roboto"/>
                <a:ea typeface="Roboto"/>
                <a:cs typeface="Roboto"/>
                <a:sym typeface="Roboto"/>
              </a:rPr>
              <a:t>afetam</a:t>
            </a:r>
            <a:r>
              <a:rPr lang="pt-BR" sz="25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pt-BR" sz="2500">
                <a:latin typeface="Roboto"/>
                <a:ea typeface="Roboto"/>
                <a:cs typeface="Roboto"/>
                <a:sym typeface="Roboto"/>
              </a:rPr>
              <a:t>o desempenho</a:t>
            </a:r>
            <a:r>
              <a:rPr lang="pt-BR" sz="2500">
                <a:latin typeface="Roboto"/>
                <a:ea typeface="Roboto"/>
                <a:cs typeface="Roboto"/>
                <a:sym typeface="Roboto"/>
              </a:rPr>
              <a:t> acadêmico do público-alvo?	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311700" y="1918350"/>
            <a:ext cx="8520600" cy="26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800"/>
              <a:buChar char="●"/>
            </a:pPr>
            <a:r>
              <a:rPr lang="pt-BR"/>
              <a:t>Redução no desempenho em avaliações e nas notas (3)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800"/>
              <a:buChar char="●"/>
            </a:pPr>
            <a:r>
              <a:rPr lang="pt-BR"/>
              <a:t>Sofrimento emocional e desengajamento comportamental (2)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800"/>
              <a:buChar char="●"/>
            </a:pPr>
            <a:r>
              <a:rPr lang="pt-BR"/>
              <a:t>Limitação da capacidade de pesquisa e ineficiência de dados (2)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800"/>
              <a:buChar char="●"/>
            </a:pPr>
            <a:r>
              <a:rPr lang="pt-BR"/>
              <a:t>Riscos profissionais estratégicos e 'analfabetismo' técnico (1)</a:t>
            </a:r>
            <a:endParaRPr/>
          </a:p>
        </p:txBody>
      </p:sp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832" y="116476"/>
            <a:ext cx="1265044" cy="4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311700" y="445025"/>
            <a:ext cx="85206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latin typeface="Roboto"/>
                <a:ea typeface="Roboto"/>
                <a:cs typeface="Roboto"/>
                <a:sym typeface="Roboto"/>
              </a:rPr>
              <a:t>Q5 - Quais são os principais </a:t>
            </a:r>
            <a:r>
              <a:rPr b="1" lang="pt-BR" sz="2500">
                <a:latin typeface="Roboto"/>
                <a:ea typeface="Roboto"/>
                <a:cs typeface="Roboto"/>
                <a:sym typeface="Roboto"/>
              </a:rPr>
              <a:t>desafios</a:t>
            </a:r>
            <a:r>
              <a:rPr lang="pt-BR" sz="2500">
                <a:latin typeface="Roboto"/>
                <a:ea typeface="Roboto"/>
                <a:cs typeface="Roboto"/>
                <a:sym typeface="Roboto"/>
              </a:rPr>
              <a:t> encontrados para o desenvolvimento de competências técnicas no público-alvo?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311700" y="1784225"/>
            <a:ext cx="8520600" cy="27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800"/>
              <a:buChar char="●"/>
            </a:pPr>
            <a:r>
              <a:rPr lang="pt-BR"/>
              <a:t>Barreiras estruturais e institucionais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B45F06"/>
              </a:buClr>
              <a:buSzPts val="1800"/>
              <a:buChar char="●"/>
            </a:pPr>
            <a:r>
              <a:rPr lang="pt-BR"/>
              <a:t>Desafios pedagógicos e instrucionais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B45F06"/>
              </a:buClr>
              <a:buSzPts val="1800"/>
              <a:buChar char="●"/>
            </a:pPr>
            <a:r>
              <a:rPr lang="pt-BR"/>
              <a:t>Barreiras socioemocionais e ambientais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B45F06"/>
              </a:buClr>
              <a:buSzPts val="1800"/>
              <a:buChar char="●"/>
            </a:pPr>
            <a:r>
              <a:rPr lang="pt-BR"/>
              <a:t>Falta de relevância percebida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B45F06"/>
              </a:buClr>
              <a:buSzPts val="1800"/>
              <a:buChar char="●"/>
            </a:pPr>
            <a:r>
              <a:rPr lang="pt-BR"/>
              <a:t>Fragilidade do ecossistema e do código</a:t>
            </a:r>
            <a:endParaRPr/>
          </a:p>
        </p:txBody>
      </p:sp>
      <p:pic>
        <p:nvPicPr>
          <p:cNvPr id="168" name="Google Shape;1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832" y="116476"/>
            <a:ext cx="1265044" cy="4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Obrigado e até a próxima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9"/>
          <p:cNvSpPr txBox="1"/>
          <p:nvPr>
            <p:ph idx="4294967295" type="ctrTitle"/>
          </p:nvPr>
        </p:nvSpPr>
        <p:spPr>
          <a:xfrm>
            <a:off x="311708" y="1588450"/>
            <a:ext cx="8520600" cy="18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000">
                <a:latin typeface="Roboto"/>
                <a:ea typeface="Roboto"/>
                <a:cs typeface="Roboto"/>
                <a:sym typeface="Roboto"/>
              </a:rPr>
              <a:t>Dificuldades técnicas de estudantes de pós-graduação em Ciência da Computação não oriundos da área de T.I.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832" y="116476"/>
            <a:ext cx="1265044" cy="4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